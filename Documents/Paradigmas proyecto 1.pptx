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ress Start 2P" charset="1" panose="00000500000000000000"/>
      <p:regular r:id="rId19"/>
    </p:embeddedFont>
    <p:embeddedFont>
      <p:font typeface="Nunito Sans" charset="1" panose="00000000000000000000"/>
      <p:regular r:id="rId20"/>
    </p:embeddedFont>
    <p:embeddedFont>
      <p:font typeface="Nunito Sans Bold Italics" charset="1" panose="00000000000000000000"/>
      <p:regular r:id="rId21"/>
    </p:embeddedFont>
    <p:embeddedFont>
      <p:font typeface="IBM Plex Mono" charset="1" panose="020B0509050203000203"/>
      <p:regular r:id="rId22"/>
    </p:embeddedFont>
    <p:embeddedFont>
      <p:font typeface="IBM Plex Mono Bold" charset="1" panose="020B08090502030002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3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2824">
                <a:alpha val="41961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1990725"/>
            <a:ext cx="11239500" cy="1237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1"/>
              </a:lnSpc>
            </a:pPr>
            <a:r>
              <a:rPr lang="en-US" sz="4050">
                <a:solidFill>
                  <a:srgbClr val="FFF3C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AKINATOR DE</a:t>
            </a:r>
          </a:p>
          <a:p>
            <a:pPr algn="l">
              <a:lnSpc>
                <a:spcPts val="4941"/>
              </a:lnSpc>
            </a:pPr>
            <a:r>
              <a:rPr lang="en-US" sz="4050">
                <a:solidFill>
                  <a:srgbClr val="FFF3C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STARDEW VALLEY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4924425"/>
            <a:ext cx="990600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F3CF"/>
                </a:solidFill>
                <a:latin typeface="Nunito Sans"/>
                <a:ea typeface="Nunito Sans"/>
                <a:cs typeface="Nunito Sans"/>
                <a:sym typeface="Nunito Sans"/>
              </a:rPr>
              <a:t>Sistema experto educativo basado en programación funcional para la deducción de personajes (NPCs)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8524875"/>
            <a:ext cx="857250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FFF3CF"/>
                </a:solidFill>
                <a:latin typeface="Nunito Sans"/>
                <a:ea typeface="Nunito Sans"/>
                <a:cs typeface="Nunito Sans"/>
                <a:sym typeface="Nunito Sans"/>
              </a:rPr>
              <a:t>Genesis Silesky  </a:t>
            </a:r>
          </a:p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FFF3CF"/>
                </a:solidFill>
                <a:latin typeface="Nunito Sans"/>
                <a:ea typeface="Nunito Sans"/>
                <a:cs typeface="Nunito Sans"/>
                <a:sym typeface="Nunito Sans"/>
              </a:rPr>
              <a:t>Lausen Paniagua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E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4381500"/>
            <a:ext cx="16002000" cy="3143250"/>
            <a:chOff x="0" y="0"/>
            <a:chExt cx="21336000" cy="4191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36000" cy="4191000"/>
            </a:xfrm>
            <a:custGeom>
              <a:avLst/>
              <a:gdLst/>
              <a:ahLst/>
              <a:cxnLst/>
              <a:rect r="r" b="b" t="t" l="l"/>
              <a:pathLst>
                <a:path h="41910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FFF3CF"/>
            </a:solidFill>
            <a:ln w="38100" cap="sq">
              <a:solidFill>
                <a:srgbClr val="5B382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336000" cy="422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790575"/>
            <a:ext cx="6667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>
                <a:solidFill>
                  <a:srgbClr val="8B5A2B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01 · RESUMEN EJECUTIVO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1419225"/>
            <a:ext cx="10191750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>
                <a:solidFill>
                  <a:srgbClr val="173F35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Pensar como Akinator.</a:t>
            </a:r>
          </a:p>
          <a:p>
            <a:pPr algn="l">
              <a:lnSpc>
                <a:spcPts val="4500"/>
              </a:lnSpc>
            </a:pPr>
            <a:r>
              <a:rPr lang="en-US" sz="3750">
                <a:solidFill>
                  <a:srgbClr val="173F35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Razonar como Scheme.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14500" y="4819650"/>
            <a:ext cx="13144500" cy="972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8"/>
              </a:lnSpc>
            </a:pPr>
            <a:r>
              <a:rPr lang="en-US" sz="2925" i="true" b="true">
                <a:solidFill>
                  <a:srgbClr val="26362E"/>
                </a:solidFill>
                <a:latin typeface="Nunito Sans Bold Italics"/>
                <a:ea typeface="Nunito Sans Bold Italics"/>
                <a:cs typeface="Nunito Sans Bold Italics"/>
                <a:sym typeface="Nunito Sans Bold Italics"/>
              </a:rPr>
              <a:t>“Un enfoque innovador que combina el razonamiento lógico funcional con una interfaz gráfica moderna.”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76500" y="8439150"/>
            <a:ext cx="13335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8B5A2B"/>
                </a:solidFill>
                <a:latin typeface="IBM Plex Mono"/>
                <a:ea typeface="IBM Plex Mono"/>
                <a:cs typeface="IBM Plex Mono"/>
                <a:sym typeface="IBM Plex Mono"/>
              </a:rPr>
              <a:t>Lógica simbólica  •  Preguntas estratégicas  •  Experiencia temática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E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95325"/>
            <a:ext cx="6191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>
                <a:solidFill>
                  <a:srgbClr val="8B5A2B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02 · FUNDAMENTOS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247775"/>
            <a:ext cx="138112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73F35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Dos decisiones que sostienen el proyecto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3238500"/>
            <a:ext cx="7524750" cy="4762500"/>
            <a:chOff x="0" y="0"/>
            <a:chExt cx="10033000" cy="6350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033000" cy="6350000"/>
              <a:chOff x="0" y="0"/>
              <a:chExt cx="1003300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0033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FFF3CF"/>
              </a:solidFill>
              <a:ln w="38100" cap="sq">
                <a:solidFill>
                  <a:srgbClr val="5B3824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0033000" cy="638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635000" y="625475"/>
              <a:ext cx="8509000" cy="314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173F35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INSPIRACIÓN Y DOMINIO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635000" y="1558925"/>
              <a:ext cx="8509000" cy="18548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26362E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Akinator adaptado a NPCs de Stardew Valley. La inferencia avanza mediante preguntas estratégicas que reducen el universo de candidatos.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25000" y="3238500"/>
            <a:ext cx="7524750" cy="4762500"/>
            <a:chOff x="0" y="0"/>
            <a:chExt cx="10033000" cy="6350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0033000" cy="6350000"/>
              <a:chOff x="0" y="0"/>
              <a:chExt cx="10033000" cy="6350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0033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FFF3CF"/>
              </a:solidFill>
              <a:ln w="38100" cap="sq">
                <a:solidFill>
                  <a:srgbClr val="5B3824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0033000" cy="638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635000" y="625475"/>
              <a:ext cx="8763000" cy="314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173F35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SEPARACIÓN DE RESPONSABILIDADES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635000" y="1558925"/>
              <a:ext cx="8763000" cy="1384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26362E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Backend en Scheme (Racket), frontend en Python (Tkinter) y un puente de comunicación JSON asíncrono.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3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39000" y="0"/>
            <a:ext cx="11049000" cy="10287000"/>
          </a:xfrm>
          <a:custGeom>
            <a:avLst/>
            <a:gdLst/>
            <a:ahLst/>
            <a:cxnLst/>
            <a:rect r="r" b="b" t="t" l="l"/>
            <a:pathLst>
              <a:path h="10287000" w="11049000">
                <a:moveTo>
                  <a:pt x="0" y="0"/>
                </a:moveTo>
                <a:lnTo>
                  <a:pt x="11049000" y="0"/>
                </a:lnTo>
                <a:lnTo>
                  <a:pt x="11049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758" t="0" r="-32758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9144000" cy="10287000"/>
            <a:chOff x="0" y="0"/>
            <a:chExt cx="12192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9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2824">
                <a:alpha val="9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192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790575"/>
            <a:ext cx="5715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>
                <a:solidFill>
                  <a:srgbClr val="E5B94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03 · ARQUITECTURA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1609725"/>
            <a:ext cx="6667500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5"/>
              </a:lnSpc>
            </a:pPr>
            <a:r>
              <a:rPr lang="en-US" sz="3750">
                <a:solidFill>
                  <a:srgbClr val="FFF3C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Tres capas.</a:t>
            </a:r>
          </a:p>
          <a:p>
            <a:pPr algn="l">
              <a:lnSpc>
                <a:spcPts val="4575"/>
              </a:lnSpc>
            </a:pPr>
            <a:r>
              <a:rPr lang="en-US" sz="3750">
                <a:solidFill>
                  <a:srgbClr val="FFF3C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Un solo flujo.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4162425"/>
            <a:ext cx="6096000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F3CF"/>
                </a:solidFill>
                <a:latin typeface="Nunito Sans"/>
                <a:ea typeface="Nunito Sans"/>
                <a:cs typeface="Nunito Sans"/>
                <a:sym typeface="Nunito Sans"/>
              </a:rPr>
              <a:t>Estructura modular diseñada para aislar la computación simbólica de la experiencia de usuario.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7581900"/>
            <a:ext cx="61912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E5B94F"/>
                </a:solidFill>
                <a:latin typeface="IBM Plex Mono"/>
                <a:ea typeface="IBM Plex Mono"/>
                <a:cs typeface="IBM Plex Mono"/>
                <a:sym typeface="IBM Plex Mono"/>
              </a:rPr>
              <a:t>SCHEME  →  JSON  →  TKINTER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58000" y="2381250"/>
            <a:ext cx="10477500" cy="6667500"/>
          </a:xfrm>
          <a:custGeom>
            <a:avLst/>
            <a:gdLst/>
            <a:ahLst/>
            <a:cxnLst/>
            <a:rect r="r" b="b" t="t" l="l"/>
            <a:pathLst>
              <a:path h="6667500" w="10477500">
                <a:moveTo>
                  <a:pt x="0" y="0"/>
                </a:moveTo>
                <a:lnTo>
                  <a:pt x="10477500" y="0"/>
                </a:lnTo>
                <a:lnTo>
                  <a:pt x="10477500" y="6667500"/>
                </a:lnTo>
                <a:lnTo>
                  <a:pt x="0" y="6667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565" t="0" r="-6565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914400" y="695325"/>
            <a:ext cx="5715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>
                <a:solidFill>
                  <a:srgbClr val="8B5A2B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04 · ESTRUCTURA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1257300"/>
            <a:ext cx="1143000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>
                <a:solidFill>
                  <a:srgbClr val="173F35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Inventario del código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7750" y="3324225"/>
            <a:ext cx="47625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>
                <a:solidFill>
                  <a:srgbClr val="173F35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BACKEND/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750" y="3857625"/>
            <a:ext cx="4762500" cy="1366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250">
                <a:solidFill>
                  <a:srgbClr val="26362E"/>
                </a:solidFill>
                <a:latin typeface="IBM Plex Mono"/>
                <a:ea typeface="IBM Plex Mono"/>
                <a:cs typeface="IBM Plex Mono"/>
                <a:sym typeface="IBM Plex Mono"/>
              </a:rPr>
              <a:t>motor.rkt</a:t>
            </a:r>
          </a:p>
          <a:p>
            <a:pPr algn="l">
              <a:lnSpc>
                <a:spcPts val="3712"/>
              </a:lnSpc>
            </a:pPr>
            <a:r>
              <a:rPr lang="en-US" sz="2250">
                <a:solidFill>
                  <a:srgbClr val="26362E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conocimiento.rkt</a:t>
            </a:r>
          </a:p>
          <a:p>
            <a:pPr algn="l">
              <a:lnSpc>
                <a:spcPts val="3712"/>
              </a:lnSpc>
            </a:pPr>
            <a:r>
              <a:rPr lang="en-US" sz="2250">
                <a:solidFill>
                  <a:srgbClr val="26362E"/>
                </a:solidFill>
                <a:latin typeface="IBM Plex Mono"/>
                <a:ea typeface="IBM Plex Mono"/>
                <a:cs typeface="IBM Plex Mono"/>
                <a:sym typeface="IBM Plex Mono"/>
              </a:rPr>
              <a:t>reglas.rkt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0" y="6467475"/>
            <a:ext cx="47625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>
                <a:solidFill>
                  <a:srgbClr val="173F35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FRONTEND/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750" y="7038975"/>
            <a:ext cx="5334000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26362E"/>
                </a:solidFill>
                <a:latin typeface="IBM Plex Mono"/>
                <a:ea typeface="IBM Plex Mono"/>
                <a:cs typeface="IBM Plex Mono"/>
                <a:sym typeface="IBM Plex Mono"/>
              </a:rPr>
              <a:t>app_2.py · scheme_bridge.py</a:t>
            </a:r>
          </a:p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26362E"/>
                </a:solidFill>
                <a:latin typeface="IBM Plex Mono"/>
                <a:ea typeface="IBM Plex Mono"/>
                <a:cs typeface="IBM Plex Mono"/>
                <a:sym typeface="IBM Plex Mono"/>
              </a:rPr>
              <a:t>game_controller.py · ui_components.py</a:t>
            </a:r>
          </a:p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26362E"/>
                </a:solidFill>
                <a:latin typeface="IBM Plex Mono"/>
                <a:ea typeface="IBM Plex Mono"/>
                <a:cs typeface="IBM Plex Mono"/>
                <a:sym typeface="IBM Plex Mono"/>
              </a:rPr>
              <a:t>images/ · informe-tecnico.docx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73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95325"/>
            <a:ext cx="476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>
                <a:solidFill>
                  <a:srgbClr val="E5B94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05 · BACKEND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247775"/>
            <a:ext cx="10477500" cy="61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1"/>
              </a:lnSpc>
            </a:pPr>
            <a:r>
              <a:rPr lang="en-US" sz="4050">
                <a:solidFill>
                  <a:srgbClr val="FFF3C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Lógica del Backend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2305050"/>
            <a:ext cx="114300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F3CF"/>
                </a:solidFill>
                <a:latin typeface="Nunito Sans"/>
                <a:ea typeface="Nunito Sans"/>
                <a:cs typeface="Nunito Sans"/>
                <a:sym typeface="Nunito Sans"/>
              </a:rPr>
              <a:t>Procesamiento simbólico, recursivo y heurístico de alto rendimiento.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47750" y="3905250"/>
            <a:ext cx="13811250" cy="3619500"/>
            <a:chOff x="0" y="0"/>
            <a:chExt cx="18415000" cy="482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415000" cy="4826000"/>
            </a:xfrm>
            <a:custGeom>
              <a:avLst/>
              <a:gdLst/>
              <a:ahLst/>
              <a:cxnLst/>
              <a:rect r="r" b="b" t="t" l="l"/>
              <a:pathLst>
                <a:path h="4826000" w="18415000">
                  <a:moveTo>
                    <a:pt x="0" y="0"/>
                  </a:moveTo>
                  <a:lnTo>
                    <a:pt x="18415000" y="0"/>
                  </a:lnTo>
                  <a:lnTo>
                    <a:pt x="18415000" y="4826000"/>
                  </a:lnTo>
                  <a:lnTo>
                    <a:pt x="0" y="4826000"/>
                  </a:lnTo>
                  <a:close/>
                </a:path>
              </a:pathLst>
            </a:custGeom>
            <a:solidFill>
              <a:srgbClr val="102823"/>
            </a:solidFill>
            <a:ln w="47625" cap="sq">
              <a:solidFill>
                <a:srgbClr val="8B5A2B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415000" cy="48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24000" y="4400550"/>
            <a:ext cx="10572750" cy="1655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175">
                <a:solidFill>
                  <a:srgbClr val="A9D47B"/>
                </a:solidFill>
                <a:latin typeface="IBM Plex Mono"/>
                <a:ea typeface="IBM Plex Mono"/>
                <a:cs typeface="IBM Plex Mono"/>
                <a:sym typeface="IBM Plex Mono"/>
              </a:rPr>
              <a:t>(define (inferir candidatos respuestas)</a:t>
            </a:r>
          </a:p>
          <a:p>
            <a:pPr algn="l">
              <a:lnSpc>
                <a:spcPts val="3371"/>
              </a:lnSpc>
            </a:pPr>
            <a:r>
              <a:rPr lang="en-US" sz="2175">
                <a:solidFill>
                  <a:srgbClr val="A9D47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(if (resuelto? candidatos)</a:t>
            </a:r>
          </a:p>
          <a:p>
            <a:pPr algn="l">
              <a:lnSpc>
                <a:spcPts val="3371"/>
              </a:lnSpc>
            </a:pPr>
            <a:r>
              <a:rPr lang="en-US" sz="2175">
                <a:solidFill>
                  <a:srgbClr val="A9D47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  (mejor-candidato candidatos)</a:t>
            </a:r>
          </a:p>
          <a:p>
            <a:pPr algn="l">
              <a:lnSpc>
                <a:spcPts val="3371"/>
              </a:lnSpc>
            </a:pPr>
            <a:r>
              <a:rPr lang="en-US" sz="2175">
                <a:solidFill>
                  <a:srgbClr val="A9D47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  (inferir (filtrar candidatos) respuestas)))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24000" y="8143875"/>
            <a:ext cx="133350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E5B94F"/>
                </a:solidFill>
                <a:latin typeface="Nunito Sans"/>
                <a:ea typeface="Nunito Sans"/>
                <a:cs typeface="Nunito Sans"/>
                <a:sym typeface="Nunito Sans"/>
              </a:rPr>
              <a:t>Funciones puras · listas inmutables · recursividad · selección heurística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4E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95325"/>
            <a:ext cx="6667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>
                <a:solidFill>
                  <a:srgbClr val="8B5A2B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06 · NÚCLEO FUNCIONAL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247775"/>
            <a:ext cx="12382500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>
                <a:solidFill>
                  <a:srgbClr val="173F35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Tres piezas, una deducción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3333750"/>
            <a:ext cx="5334000" cy="4095750"/>
            <a:chOff x="0" y="0"/>
            <a:chExt cx="7112000" cy="5461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7112000" cy="5461000"/>
              <a:chOff x="0" y="0"/>
              <a:chExt cx="7112000" cy="5461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112000" cy="5461000"/>
              </a:xfrm>
              <a:custGeom>
                <a:avLst/>
                <a:gdLst/>
                <a:ahLst/>
                <a:cxnLst/>
                <a:rect r="r" b="b" t="t" l="l"/>
                <a:pathLst>
                  <a:path h="5461000" w="7112000">
                    <a:moveTo>
                      <a:pt x="0" y="0"/>
                    </a:moveTo>
                    <a:lnTo>
                      <a:pt x="7112000" y="0"/>
                    </a:lnTo>
                    <a:lnTo>
                      <a:pt x="71120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FFF3CF"/>
              </a:solidFill>
              <a:ln w="38100" cap="sq">
                <a:solidFill>
                  <a:srgbClr val="5B3824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7112000" cy="549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381000" y="774700"/>
              <a:ext cx="6350000" cy="1201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559"/>
                </a:lnSpc>
              </a:pPr>
              <a:r>
                <a:rPr lang="en-US" sz="5400">
                  <a:solidFill>
                    <a:srgbClr val="4F7F3B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32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381000" y="2657475"/>
              <a:ext cx="6350000" cy="314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75"/>
                </a:lnSpc>
              </a:pPr>
              <a:r>
                <a:rPr lang="en-US" sz="1500">
                  <a:solidFill>
                    <a:srgbClr val="173F35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BASE DE CONOCIMIENTO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698500" y="3571875"/>
              <a:ext cx="5715000" cy="873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1875">
                  <a:solidFill>
                    <a:srgbClr val="26362E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21 características binarias / categóricas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77000" y="3333750"/>
            <a:ext cx="5334000" cy="4095750"/>
            <a:chOff x="0" y="0"/>
            <a:chExt cx="7112000" cy="5461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7112000" cy="5461000"/>
              <a:chOff x="0" y="0"/>
              <a:chExt cx="7112000" cy="5461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7112000" cy="5461000"/>
              </a:xfrm>
              <a:custGeom>
                <a:avLst/>
                <a:gdLst/>
                <a:ahLst/>
                <a:cxnLst/>
                <a:rect r="r" b="b" t="t" l="l"/>
                <a:pathLst>
                  <a:path h="5461000" w="7112000">
                    <a:moveTo>
                      <a:pt x="0" y="0"/>
                    </a:moveTo>
                    <a:lnTo>
                      <a:pt x="7112000" y="0"/>
                    </a:lnTo>
                    <a:lnTo>
                      <a:pt x="71120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FFF3CF"/>
              </a:solidFill>
              <a:ln w="38100" cap="sq">
                <a:solidFill>
                  <a:srgbClr val="5B3824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7112000" cy="549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381000" y="774700"/>
              <a:ext cx="6350000" cy="1201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559"/>
                </a:lnSpc>
              </a:pPr>
              <a:r>
                <a:rPr lang="en-US" sz="5400">
                  <a:solidFill>
                    <a:srgbClr val="B84B3E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10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81000" y="2657475"/>
              <a:ext cx="6350000" cy="314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75"/>
                </a:lnSpc>
              </a:pPr>
              <a:r>
                <a:rPr lang="en-US" sz="1500">
                  <a:solidFill>
                    <a:srgbClr val="173F35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REGLAS DE INFERENCIA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698500" y="3571875"/>
              <a:ext cx="57150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1875">
                  <a:solidFill>
                    <a:srgbClr val="26362E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Deducen hechos implícitos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001500" y="3333750"/>
            <a:ext cx="5334000" cy="4095750"/>
            <a:chOff x="0" y="0"/>
            <a:chExt cx="7112000" cy="54610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7112000" cy="5461000"/>
              <a:chOff x="0" y="0"/>
              <a:chExt cx="7112000" cy="5461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7112000" cy="5461000"/>
              </a:xfrm>
              <a:custGeom>
                <a:avLst/>
                <a:gdLst/>
                <a:ahLst/>
                <a:cxnLst/>
                <a:rect r="r" b="b" t="t" l="l"/>
                <a:pathLst>
                  <a:path h="5461000" w="7112000">
                    <a:moveTo>
                      <a:pt x="0" y="0"/>
                    </a:moveTo>
                    <a:lnTo>
                      <a:pt x="7112000" y="0"/>
                    </a:lnTo>
                    <a:lnTo>
                      <a:pt x="71120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FFF3CF"/>
              </a:solidFill>
              <a:ln w="38100" cap="sq">
                <a:solidFill>
                  <a:srgbClr val="5B3824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7112000" cy="549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81000" y="774700"/>
              <a:ext cx="6350000" cy="1201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559"/>
                </a:lnSpc>
              </a:pPr>
              <a:r>
                <a:rPr lang="en-US" sz="5400">
                  <a:solidFill>
                    <a:srgbClr val="4F7F3B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↗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81000" y="2657475"/>
              <a:ext cx="6350000" cy="314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75"/>
                </a:lnSpc>
              </a:pPr>
              <a:r>
                <a:rPr lang="en-US" sz="1500">
                  <a:solidFill>
                    <a:srgbClr val="173F35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MOTOR DE INFERENCIA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698500" y="3571875"/>
              <a:ext cx="5715000" cy="873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1875">
                  <a:solidFill>
                    <a:srgbClr val="26362E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Pregunta dinámica + umbral de descarte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173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95325"/>
            <a:ext cx="5715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>
                <a:solidFill>
                  <a:srgbClr val="E5B94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07 · HEURÍSTICA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238250"/>
            <a:ext cx="13335000" cy="618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9"/>
              </a:lnSpc>
            </a:pPr>
            <a:r>
              <a:rPr lang="en-US" sz="3975">
                <a:solidFill>
                  <a:srgbClr val="FFF3C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Medir para preguntar mejor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38250" y="3514725"/>
            <a:ext cx="5715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>
                <a:solidFill>
                  <a:srgbClr val="FFF3C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INFORMATIVIDAD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38250" y="4210050"/>
            <a:ext cx="581025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F3CF"/>
                </a:solidFill>
                <a:latin typeface="Nunito Sans"/>
                <a:ea typeface="Nunito Sans"/>
                <a:cs typeface="Nunito Sans"/>
                <a:sym typeface="Nunito Sans"/>
              </a:rPr>
              <a:t>Peso de cada pregunta según su capacidad para dividir candidatos.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10750" y="3514725"/>
            <a:ext cx="619125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>
                <a:solidFill>
                  <a:srgbClr val="FFF3C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CONFIANZA RELATIVA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10750" y="4191000"/>
            <a:ext cx="619125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E5B94F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 = 1 − (score₂ / score₁)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90750" y="8143875"/>
            <a:ext cx="13906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FF3CF"/>
                </a:solidFill>
                <a:latin typeface="Nunito Sans"/>
                <a:ea typeface="Nunito Sans"/>
                <a:cs typeface="Nunito Sans"/>
                <a:sym typeface="Nunito Sans"/>
              </a:rPr>
              <a:t>La incertidumbre no rompe el juego: se incorpora al cálculo.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38250" y="6191250"/>
            <a:ext cx="514350" cy="1047750"/>
            <a:chOff x="0" y="0"/>
            <a:chExt cx="685800" cy="1397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58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79A84B"/>
            </a:solidFill>
            <a:ln w="19050" cap="sq">
              <a:solidFill>
                <a:srgbClr val="E5B94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858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924050" y="6191250"/>
            <a:ext cx="514350" cy="1047750"/>
            <a:chOff x="0" y="0"/>
            <a:chExt cx="685800" cy="1397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58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79A84B"/>
            </a:solidFill>
            <a:ln w="19050" cap="sq">
              <a:solidFill>
                <a:srgbClr val="E5B94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858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609850" y="6191250"/>
            <a:ext cx="514350" cy="1047750"/>
            <a:chOff x="0" y="0"/>
            <a:chExt cx="685800" cy="1397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58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79A84B"/>
            </a:solidFill>
            <a:ln w="19050" cap="sq">
              <a:solidFill>
                <a:srgbClr val="E5B94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858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295650" y="6191250"/>
            <a:ext cx="514350" cy="1047750"/>
            <a:chOff x="0" y="0"/>
            <a:chExt cx="685800" cy="1397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58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79A84B"/>
            </a:solidFill>
            <a:ln w="19050" cap="sq">
              <a:solidFill>
                <a:srgbClr val="E5B94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858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981450" y="6191250"/>
            <a:ext cx="514350" cy="1047750"/>
            <a:chOff x="0" y="0"/>
            <a:chExt cx="685800" cy="1397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58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79A84B"/>
            </a:solidFill>
            <a:ln w="19050" cap="sq">
              <a:solidFill>
                <a:srgbClr val="E5B94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858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667250" y="6191250"/>
            <a:ext cx="514350" cy="1047750"/>
            <a:chOff x="0" y="0"/>
            <a:chExt cx="685800" cy="1397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58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79A84B"/>
            </a:solidFill>
            <a:ln w="19050" cap="sq">
              <a:solidFill>
                <a:srgbClr val="E5B94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6858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353050" y="6191250"/>
            <a:ext cx="514350" cy="1047750"/>
            <a:chOff x="0" y="0"/>
            <a:chExt cx="685800" cy="1397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58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0D2824"/>
            </a:solidFill>
            <a:ln w="19050" cap="sq">
              <a:solidFill>
                <a:srgbClr val="E5B94F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858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038850" y="6191250"/>
            <a:ext cx="514350" cy="1047750"/>
            <a:chOff x="0" y="0"/>
            <a:chExt cx="685800" cy="1397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858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0D2824"/>
            </a:solidFill>
            <a:ln w="19050" cap="sq">
              <a:solidFill>
                <a:srgbClr val="E5B94F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6858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810750" y="6191250"/>
            <a:ext cx="514350" cy="1047750"/>
            <a:chOff x="0" y="0"/>
            <a:chExt cx="685800" cy="1397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858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E5B94F"/>
            </a:solidFill>
            <a:ln w="19050" cap="sq">
              <a:solidFill>
                <a:srgbClr val="E5B94F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6858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496550" y="6191250"/>
            <a:ext cx="514350" cy="1047750"/>
            <a:chOff x="0" y="0"/>
            <a:chExt cx="685800" cy="1397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858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E5B94F"/>
            </a:solidFill>
            <a:ln w="19050" cap="sq">
              <a:solidFill>
                <a:srgbClr val="E5B94F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6858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182350" y="6191250"/>
            <a:ext cx="514350" cy="1047750"/>
            <a:chOff x="0" y="0"/>
            <a:chExt cx="685800" cy="1397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858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E5B94F"/>
            </a:solidFill>
            <a:ln w="19050" cap="sq">
              <a:solidFill>
                <a:srgbClr val="E5B94F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6858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868150" y="6191250"/>
            <a:ext cx="514350" cy="1047750"/>
            <a:chOff x="0" y="0"/>
            <a:chExt cx="685800" cy="1397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858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E5B94F"/>
            </a:solidFill>
            <a:ln w="19050" cap="sq">
              <a:solidFill>
                <a:srgbClr val="E5B94F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6858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553950" y="6191250"/>
            <a:ext cx="514350" cy="1047750"/>
            <a:chOff x="0" y="0"/>
            <a:chExt cx="685800" cy="1397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858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E5B94F"/>
            </a:solidFill>
            <a:ln w="19050" cap="sq">
              <a:solidFill>
                <a:srgbClr val="E5B94F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6858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239750" y="6191250"/>
            <a:ext cx="514350" cy="1047750"/>
            <a:chOff x="0" y="0"/>
            <a:chExt cx="685800" cy="1397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858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E5B94F"/>
            </a:solidFill>
            <a:ln w="19050" cap="sq">
              <a:solidFill>
                <a:srgbClr val="E5B94F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6858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925550" y="6191250"/>
            <a:ext cx="514350" cy="1047750"/>
            <a:chOff x="0" y="0"/>
            <a:chExt cx="685800" cy="13970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858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E5B94F"/>
            </a:solidFill>
            <a:ln w="19050" cap="sq">
              <a:solidFill>
                <a:srgbClr val="E5B94F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6858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4611350" y="6191250"/>
            <a:ext cx="514350" cy="1047750"/>
            <a:chOff x="0" y="0"/>
            <a:chExt cx="685800" cy="13970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858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0D2824"/>
            </a:solidFill>
            <a:ln w="19050" cap="sq">
              <a:solidFill>
                <a:srgbClr val="E5B94F"/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6858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48500" y="2476500"/>
            <a:ext cx="10287000" cy="6572250"/>
          </a:xfrm>
          <a:custGeom>
            <a:avLst/>
            <a:gdLst/>
            <a:ahLst/>
            <a:cxnLst/>
            <a:rect r="r" b="b" t="t" l="l"/>
            <a:pathLst>
              <a:path h="6572250" w="10287000">
                <a:moveTo>
                  <a:pt x="0" y="0"/>
                </a:moveTo>
                <a:lnTo>
                  <a:pt x="10287000" y="0"/>
                </a:lnTo>
                <a:lnTo>
                  <a:pt x="10287000" y="6572250"/>
                </a:lnTo>
                <a:lnTo>
                  <a:pt x="0" y="6572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790" t="0" r="-679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914400" y="695325"/>
            <a:ext cx="52387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>
                <a:solidFill>
                  <a:srgbClr val="8B5A2B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08 · FRONTEND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1257300"/>
            <a:ext cx="1381125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73F35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Una interfaz que se siente parte del valle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" y="3209925"/>
            <a:ext cx="533400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26362E"/>
                </a:solidFill>
                <a:latin typeface="Nunito Sans"/>
                <a:ea typeface="Nunito Sans"/>
                <a:cs typeface="Nunito Sans"/>
                <a:sym typeface="Nunito Sans"/>
              </a:rPr>
              <a:t>Experiencia interactiva y temática en Python / Tkinter.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8250" y="4867275"/>
            <a:ext cx="4286250" cy="2148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1725">
                <a:solidFill>
                  <a:srgbClr val="4F7F3B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SÍ</a:t>
            </a:r>
          </a:p>
          <a:p>
            <a:pPr algn="l">
              <a:lnSpc>
                <a:spcPts val="3450"/>
              </a:lnSpc>
            </a:pPr>
            <a:r>
              <a:rPr lang="en-US" sz="1725">
                <a:solidFill>
                  <a:srgbClr val="4F7F3B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PROBABLEMENTE</a:t>
            </a:r>
          </a:p>
          <a:p>
            <a:pPr algn="l">
              <a:lnSpc>
                <a:spcPts val="3450"/>
              </a:lnSpc>
            </a:pPr>
            <a:r>
              <a:rPr lang="en-US" sz="1725">
                <a:solidFill>
                  <a:srgbClr val="4F7F3B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NO SÉ</a:t>
            </a:r>
          </a:p>
          <a:p>
            <a:pPr algn="l">
              <a:lnSpc>
                <a:spcPts val="3450"/>
              </a:lnSpc>
            </a:pPr>
            <a:r>
              <a:rPr lang="en-US" sz="1725">
                <a:solidFill>
                  <a:srgbClr val="4F7F3B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PROBABLEMENTE NO</a:t>
            </a:r>
          </a:p>
          <a:p>
            <a:pPr algn="l">
              <a:lnSpc>
                <a:spcPts val="3450"/>
              </a:lnSpc>
            </a:pPr>
            <a:r>
              <a:rPr lang="en-US" sz="1725">
                <a:solidFill>
                  <a:srgbClr val="4F7F3B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NO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173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95325"/>
            <a:ext cx="476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>
                <a:solidFill>
                  <a:srgbClr val="E5B94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09 · CLIENTE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247775"/>
            <a:ext cx="12382500" cy="61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1"/>
              </a:lnSpc>
            </a:pPr>
            <a:r>
              <a:rPr lang="en-US" sz="4050">
                <a:solidFill>
                  <a:srgbClr val="FFF3C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Arquitectura del Cliente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2305050"/>
            <a:ext cx="114300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F3CF"/>
                </a:solidFill>
                <a:latin typeface="Nunito Sans"/>
                <a:ea typeface="Nunito Sans"/>
                <a:cs typeface="Nunito Sans"/>
                <a:sym typeface="Nunito Sans"/>
              </a:rPr>
              <a:t>El dato cruza el puente; el controlador decide; la interfaz responde.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52500" y="4476750"/>
            <a:ext cx="4762500" cy="2095500"/>
            <a:chOff x="0" y="0"/>
            <a:chExt cx="6350000" cy="279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79A84B"/>
            </a:solidFill>
            <a:ln w="38100" cap="sq">
              <a:solidFill>
                <a:srgbClr val="5B3824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6350000" cy="2860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  <a:r>
                <a:rPr lang="en-US" sz="1650" b="true">
                  <a:solidFill>
                    <a:srgbClr val="173F3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scheme_bridge.py</a:t>
              </a:r>
            </a:p>
            <a:p>
              <a:pPr algn="ctr">
                <a:lnSpc>
                  <a:spcPts val="2640"/>
                </a:lnSpc>
              </a:pPr>
              <a:r>
                <a:rPr lang="en-US" sz="1650" b="true">
                  <a:solidFill>
                    <a:srgbClr val="173F3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Subproceso + JSON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5810250" y="5524500"/>
            <a:ext cx="857250" cy="0"/>
          </a:xfrm>
          <a:prstGeom prst="line">
            <a:avLst/>
          </a:prstGeom>
          <a:ln cap="rnd" w="57150">
            <a:solidFill>
              <a:srgbClr val="E5B94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6762750" y="4476750"/>
            <a:ext cx="4762500" cy="2095500"/>
            <a:chOff x="0" y="0"/>
            <a:chExt cx="6350000" cy="279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E5B94F"/>
            </a:solidFill>
            <a:ln w="38100" cap="sq">
              <a:solidFill>
                <a:srgbClr val="5B3824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6350000" cy="2860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  <a:r>
                <a:rPr lang="en-US" sz="1650" b="true">
                  <a:solidFill>
                    <a:srgbClr val="173F3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game_controller.py</a:t>
              </a:r>
            </a:p>
            <a:p>
              <a:pPr algn="ctr">
                <a:lnSpc>
                  <a:spcPts val="2640"/>
                </a:lnSpc>
              </a:pPr>
              <a:r>
                <a:rPr lang="en-US" sz="1650" b="true">
                  <a:solidFill>
                    <a:srgbClr val="173F3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Estado · historial · métricas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11620500" y="5524500"/>
            <a:ext cx="857250" cy="0"/>
          </a:xfrm>
          <a:prstGeom prst="line">
            <a:avLst/>
          </a:prstGeom>
          <a:ln cap="rnd" w="57150">
            <a:solidFill>
              <a:srgbClr val="E5B94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2573000" y="4476750"/>
            <a:ext cx="4762500" cy="2095500"/>
            <a:chOff x="0" y="0"/>
            <a:chExt cx="6350000" cy="2794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79A84B"/>
            </a:solidFill>
            <a:ln w="38100" cap="sq">
              <a:solidFill>
                <a:srgbClr val="5B3824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6350000" cy="2860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  <a:r>
                <a:rPr lang="en-US" sz="1650" b="true">
                  <a:solidFill>
                    <a:srgbClr val="173F3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ui_components.py + app_2.py</a:t>
              </a:r>
            </a:p>
            <a:p>
              <a:pPr algn="ctr">
                <a:lnSpc>
                  <a:spcPts val="2640"/>
                </a:lnSpc>
              </a:pPr>
              <a:r>
                <a:rPr lang="en-US" sz="1650" b="true">
                  <a:solidFill>
                    <a:srgbClr val="173F3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Opciones · avatares · vista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4E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2667000"/>
            <a:ext cx="16573500" cy="6572250"/>
            <a:chOff x="0" y="0"/>
            <a:chExt cx="22098000" cy="8763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098000" cy="8763000"/>
            </a:xfrm>
            <a:custGeom>
              <a:avLst/>
              <a:gdLst/>
              <a:ahLst/>
              <a:cxnLst/>
              <a:rect r="r" b="b" t="t" l="l"/>
              <a:pathLst>
                <a:path h="87630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8763000"/>
                  </a:lnTo>
                  <a:lnTo>
                    <a:pt x="0" y="8763000"/>
                  </a:lnTo>
                  <a:close/>
                </a:path>
              </a:pathLst>
            </a:custGeom>
            <a:solidFill>
              <a:srgbClr val="FFF3CF"/>
            </a:solidFill>
            <a:ln w="38100" cap="sq">
              <a:solidFill>
                <a:srgbClr val="5B382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098000" cy="880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638175"/>
            <a:ext cx="5715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>
                <a:solidFill>
                  <a:srgbClr val="8B5A2B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10 · VALIDACIÓN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1200150"/>
            <a:ext cx="1238250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>
                <a:solidFill>
                  <a:srgbClr val="173F35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Pruebas y casos límite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8250" y="3038475"/>
            <a:ext cx="4953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>
                <a:solidFill>
                  <a:srgbClr val="173F35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ESCENARIO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72250" y="3038475"/>
            <a:ext cx="619125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>
                <a:solidFill>
                  <a:srgbClr val="173F35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COMPORTAMIENTO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11250" y="3038475"/>
            <a:ext cx="28575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>
                <a:solidFill>
                  <a:srgbClr val="173F35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RESULTADO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8250" y="3952875"/>
            <a:ext cx="49530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26362E"/>
                </a:solidFill>
                <a:latin typeface="Nunito Sans"/>
                <a:ea typeface="Nunito Sans"/>
                <a:cs typeface="Nunito Sans"/>
                <a:sym typeface="Nunito Sans"/>
              </a:rPr>
              <a:t>Entidad clara · Vincent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72250" y="3952875"/>
            <a:ext cx="619125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26362E"/>
                </a:solidFill>
                <a:latin typeface="Nunito Sans"/>
                <a:ea typeface="Nunito Sans"/>
                <a:cs typeface="Nunito Sans"/>
                <a:sym typeface="Nunito Sans"/>
              </a:rPr>
              <a:t>10 preguntas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811250" y="3952875"/>
            <a:ext cx="28575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F7F3B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✓ Validado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143000" y="4619625"/>
            <a:ext cx="16002000" cy="0"/>
          </a:xfrm>
          <a:prstGeom prst="line">
            <a:avLst/>
          </a:prstGeom>
          <a:ln cap="flat" w="19050">
            <a:solidFill>
              <a:srgbClr val="C9A9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238250" y="5191125"/>
            <a:ext cx="49530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26362E"/>
                </a:solidFill>
                <a:latin typeface="Nunito Sans"/>
                <a:ea typeface="Nunito Sans"/>
                <a:cs typeface="Nunito Sans"/>
                <a:sym typeface="Nunito Sans"/>
              </a:rPr>
              <a:t>Abigail vs. Haley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72250" y="5191125"/>
            <a:ext cx="619125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26362E"/>
                </a:solidFill>
                <a:latin typeface="Nunito Sans"/>
                <a:ea typeface="Nunito Sans"/>
                <a:cs typeface="Nunito Sans"/>
                <a:sym typeface="Nunito Sans"/>
              </a:rPr>
              <a:t>Atributos discriminantes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11250" y="5191125"/>
            <a:ext cx="28575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F7F3B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✓ Validado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143000" y="5857875"/>
            <a:ext cx="16002000" cy="0"/>
          </a:xfrm>
          <a:prstGeom prst="line">
            <a:avLst/>
          </a:prstGeom>
          <a:ln cap="flat" w="19050">
            <a:solidFill>
              <a:srgbClr val="C9A9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1238250" y="6429375"/>
            <a:ext cx="49530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26362E"/>
                </a:solidFill>
                <a:latin typeface="Nunito Sans"/>
                <a:ea typeface="Nunito Sans"/>
                <a:cs typeface="Nunito Sans"/>
                <a:sym typeface="Nunito Sans"/>
              </a:rPr>
              <a:t>“No sé” / probabilística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72250" y="6429375"/>
            <a:ext cx="619125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26362E"/>
                </a:solidFill>
                <a:latin typeface="Nunito Sans"/>
                <a:ea typeface="Nunito Sans"/>
                <a:cs typeface="Nunito Sans"/>
                <a:sym typeface="Nunito Sans"/>
              </a:rPr>
              <a:t>Neutralidad matemática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811250" y="6429375"/>
            <a:ext cx="28575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F7F3B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✓ Validado</a:t>
            </a:r>
          </a:p>
        </p:txBody>
      </p:sp>
      <p:sp>
        <p:nvSpPr>
          <p:cNvPr name="AutoShape 21" id="21"/>
          <p:cNvSpPr/>
          <p:nvPr/>
        </p:nvSpPr>
        <p:spPr>
          <a:xfrm>
            <a:off x="1143000" y="7096125"/>
            <a:ext cx="16002000" cy="0"/>
          </a:xfrm>
          <a:prstGeom prst="line">
            <a:avLst/>
          </a:prstGeom>
          <a:ln cap="flat" w="19050">
            <a:solidFill>
              <a:srgbClr val="C9A9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1238250" y="7667625"/>
            <a:ext cx="49530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26362E"/>
                </a:solidFill>
                <a:latin typeface="Nunito Sans"/>
                <a:ea typeface="Nunito Sans"/>
                <a:cs typeface="Nunito Sans"/>
                <a:sym typeface="Nunito Sans"/>
              </a:rPr>
              <a:t>Ambigua / contradictoria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572250" y="7667625"/>
            <a:ext cx="619125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26362E"/>
                </a:solidFill>
                <a:latin typeface="Nunito Sans"/>
                <a:ea typeface="Nunito Sans"/>
                <a:cs typeface="Nunito Sans"/>
                <a:sym typeface="Nunito Sans"/>
              </a:rPr>
              <a:t>ninguno · confianza 0.0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811250" y="7667625"/>
            <a:ext cx="28575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F7F3B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✓ Validado</a:t>
            </a:r>
          </a:p>
        </p:txBody>
      </p:sp>
      <p:sp>
        <p:nvSpPr>
          <p:cNvPr name="AutoShape 25" id="25"/>
          <p:cNvSpPr/>
          <p:nvPr/>
        </p:nvSpPr>
        <p:spPr>
          <a:xfrm>
            <a:off x="1143000" y="8334375"/>
            <a:ext cx="16002000" cy="0"/>
          </a:xfrm>
          <a:prstGeom prst="line">
            <a:avLst/>
          </a:prstGeom>
          <a:ln cap="flat" w="19050">
            <a:solidFill>
              <a:srgbClr val="C9A96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3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2824">
                <a:alpha val="5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695325"/>
            <a:ext cx="6191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>
                <a:solidFill>
                  <a:srgbClr val="E5B94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11 · CONCLUSIONES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1371600"/>
            <a:ext cx="11906250" cy="1237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1"/>
              </a:lnSpc>
            </a:pPr>
            <a:r>
              <a:rPr lang="en-US" sz="4050">
                <a:solidFill>
                  <a:srgbClr val="FFF3C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El paradigma funcional</a:t>
            </a:r>
          </a:p>
          <a:p>
            <a:pPr algn="l">
              <a:lnSpc>
                <a:spcPts val="4941"/>
              </a:lnSpc>
            </a:pPr>
            <a:r>
              <a:rPr lang="en-US" sz="4050">
                <a:solidFill>
                  <a:srgbClr val="FFF3C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sí llega a buen puerto.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8250" y="5133975"/>
            <a:ext cx="59055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>
                <a:solidFill>
                  <a:srgbClr val="E5B94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ÉXITO FUNCIONAL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8250" y="5686425"/>
            <a:ext cx="619125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F3CF"/>
                </a:solidFill>
                <a:latin typeface="Nunito Sans"/>
                <a:ea typeface="Nunito Sans"/>
                <a:cs typeface="Nunito Sans"/>
                <a:sym typeface="Nunito Sans"/>
              </a:rPr>
              <a:t>Funciones puras, listas y recursividad en Scheme resolvieron una lógica compleja con claridad.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10750" y="5133975"/>
            <a:ext cx="66675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>
                <a:solidFill>
                  <a:srgbClr val="E5B94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ROBUSTEZ Y ESTABILIDAD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10750" y="5686425"/>
            <a:ext cx="666750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F3CF"/>
                </a:solidFill>
                <a:latin typeface="Nunito Sans"/>
                <a:ea typeface="Nunito Sans"/>
                <a:cs typeface="Nunito Sans"/>
                <a:sym typeface="Nunito Sans"/>
              </a:rPr>
              <a:t>Las pruebas iterativas fortalecieron la heurística, los estados y la experiencia interactiva.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3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2824">
                <a:alpha val="3490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14500" y="3143250"/>
            <a:ext cx="14859000" cy="3810000"/>
            <a:chOff x="0" y="0"/>
            <a:chExt cx="19812000" cy="50800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9812000" cy="5080000"/>
              <a:chOff x="0" y="0"/>
              <a:chExt cx="19812000" cy="508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812000" cy="5080000"/>
              </a:xfrm>
              <a:custGeom>
                <a:avLst/>
                <a:gdLst/>
                <a:ahLst/>
                <a:cxnLst/>
                <a:rect r="r" b="b" t="t" l="l"/>
                <a:pathLst>
                  <a:path h="5080000" w="19812000">
                    <a:moveTo>
                      <a:pt x="0" y="0"/>
                    </a:moveTo>
                    <a:lnTo>
                      <a:pt x="19812000" y="0"/>
                    </a:lnTo>
                    <a:lnTo>
                      <a:pt x="19812000" y="5080000"/>
                    </a:lnTo>
                    <a:lnTo>
                      <a:pt x="0" y="5080000"/>
                    </a:lnTo>
                    <a:close/>
                  </a:path>
                </a:pathLst>
              </a:custGeom>
              <a:solidFill>
                <a:srgbClr val="FFF3CF"/>
              </a:solidFill>
              <a:ln w="76200" cap="sq">
                <a:solidFill>
                  <a:srgbClr val="8B5A2B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9812000" cy="511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1016000" y="1977390"/>
              <a:ext cx="17780000" cy="1029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09"/>
                </a:lnSpc>
              </a:pPr>
              <a:r>
                <a:rPr lang="en-US" sz="4650">
                  <a:solidFill>
                    <a:srgbClr val="173F35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¡MUCHAS GRACIAS!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DAHUfSJqTmI</dc:identifier>
  <dcterms:modified xsi:type="dcterms:W3CDTF">2011-08-01T06:04:30Z</dcterms:modified>
  <cp:revision>1</cp:revision>
  <dc:title>Paradigmas proyecto 1</dc:title>
</cp:coreProperties>
</file>